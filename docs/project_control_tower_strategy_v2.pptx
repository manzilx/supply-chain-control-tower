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7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480000">
            <a:off x="8686800" y="457200"/>
            <a:ext cx="3108960" cy="3108960"/>
          </a:xfrm>
          <a:prstGeom prst="rect">
            <a:avLst/>
          </a:prstGeom>
          <a:solidFill>
            <a:srgbClr val="1A2E52">
              <a:alpha val="80000"/>
            </a:srgbClr>
          </a:solidFill>
          <a:ln w="12700">
            <a:solidFill>
              <a:srgbClr val="1A2E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360000">
            <a:off x="9235440" y="3017520"/>
            <a:ext cx="2834640" cy="2834640"/>
          </a:xfrm>
          <a:prstGeom prst="rect">
            <a:avLst/>
          </a:prstGeom>
          <a:solidFill>
            <a:srgbClr val="F97316">
              <a:alpha val="18000"/>
            </a:srgbClr>
          </a:solidFill>
          <a:ln w="12700">
            <a:solidFill>
              <a:srgbClr val="F97316">
                <a:alpha val="1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8229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STRATEGY  ·  v2  ·  Q2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Control Tower</a:t>
            </a:r>
            <a:endParaRPr lang="en-US" sz="6800" dirty="0"/>
          </a:p>
        </p:txBody>
      </p:sp>
      <p:sp>
        <p:nvSpPr>
          <p:cNvPr id="6" name="Text 4"/>
          <p:cNvSpPr/>
          <p:nvPr/>
        </p:nvSpPr>
        <p:spPr>
          <a:xfrm>
            <a:off x="640080" y="2971800"/>
            <a:ext cx="8686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i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Procurement</a:t>
            </a:r>
            <a:endParaRPr lang="en-US" sz="4200" dirty="0"/>
          </a:p>
          <a:p>
            <a:pPr indent="0" marL="0">
              <a:buNone/>
            </a:pPr>
            <a:r>
              <a:rPr lang="en-US" sz="4200" i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Engineering Projects.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" y="49377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640080" y="58064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Integrated modules</a:t>
            </a:r>
            <a:endParaRPr lang="en-US" sz="1050" dirty="0"/>
          </a:p>
          <a:p>
            <a:pPr indent="0" marL="0">
              <a:buNone/>
            </a:pPr>
            <a:r>
              <a:rPr lang="en-US" sz="1050" b="1" spc="200" kern="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end-to-end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017520" y="49377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74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3017520" y="58064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endpoints</a:t>
            </a:r>
            <a:endParaRPr lang="en-US" sz="1050" dirty="0"/>
          </a:p>
          <a:p>
            <a:pPr indent="0" marL="0">
              <a:buNone/>
            </a:pPr>
            <a:r>
              <a:rPr lang="en-US" sz="1050" b="1" spc="200" kern="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shipped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94960" y="49377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5394960" y="58064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features</a:t>
            </a:r>
            <a:endParaRPr lang="en-US" sz="1050" dirty="0"/>
          </a:p>
          <a:p>
            <a:pPr indent="0" marL="0">
              <a:buNone/>
            </a:pPr>
            <a:r>
              <a:rPr lang="en-US" sz="1050" b="1" spc="200" kern="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Grok 4.1 + fallback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72400" y="49377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 90s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7772400" y="58064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BOM → procurement</a:t>
            </a:r>
            <a:endParaRPr lang="en-US" sz="1050" dirty="0"/>
          </a:p>
          <a:p>
            <a:pPr indent="0" marL="0">
              <a:buNone/>
            </a:pPr>
            <a:r>
              <a:rPr lang="en-US" sz="1050" b="1" spc="200" kern="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 generated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644652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 R O J E C T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 ·   </a:t>
            </a:r>
            <a:pPr indent="0" marL="0">
              <a:buNone/>
            </a:pPr>
            <a:r>
              <a:rPr lang="en-US" sz="1000" b="1" spc="400" kern="0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 O N T R O L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 ·   </a:t>
            </a:r>
            <a:pPr indent="0" marL="0">
              <a:buNone/>
            </a:pPr>
            <a:r>
              <a:rPr lang="en-US" sz="1000" b="1" spc="400" kern="0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O W E 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12080" y="6446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EPC Procurement Platform  ·  v2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094415" y="64465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/ 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7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Foundation — Built &amp; Shipping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 capability pillars live in production today.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058400" y="50292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0C1728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95560" y="658368"/>
            <a:ext cx="146304" cy="14630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60152" y="53035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SHIPPED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920240"/>
            <a:ext cx="2679192" cy="841248"/>
          </a:xfrm>
          <a:prstGeom prst="rect">
            <a:avLst/>
          </a:prstGeom>
          <a:solidFill>
            <a:srgbClr val="172435"/>
          </a:solidFill>
          <a:ln w="12700">
            <a:solidFill>
              <a:srgbClr val="17243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920240"/>
            <a:ext cx="64008" cy="8412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039112"/>
            <a:ext cx="310896" cy="31089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34440" y="1993392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BOM Intake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234440" y="2304288"/>
            <a:ext cx="19933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CSV, multi-level, spec &amp; drawing refs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465576" y="1920240"/>
            <a:ext cx="2679192" cy="841248"/>
          </a:xfrm>
          <a:prstGeom prst="rect">
            <a:avLst/>
          </a:prstGeom>
          <a:solidFill>
            <a:srgbClr val="172435"/>
          </a:solidFill>
          <a:ln w="12700">
            <a:solidFill>
              <a:srgbClr val="17243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465576" y="1920240"/>
            <a:ext cx="64008" cy="8412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6744" y="2039112"/>
            <a:ext cx="310896" cy="31089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059936" y="1993392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Procurement Plan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059936" y="2304288"/>
            <a:ext cx="19933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Long-lead + missing-spec + milestones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6291072" y="1920240"/>
            <a:ext cx="2679192" cy="841248"/>
          </a:xfrm>
          <a:prstGeom prst="rect">
            <a:avLst/>
          </a:prstGeom>
          <a:solidFill>
            <a:srgbClr val="172435"/>
          </a:solidFill>
          <a:ln w="12700">
            <a:solidFill>
              <a:srgbClr val="17243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291072" y="1920240"/>
            <a:ext cx="64008" cy="8412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039112"/>
            <a:ext cx="310896" cy="31089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885432" y="1993392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 → RFQ Workflow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885432" y="2304288"/>
            <a:ext cx="19933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Guided, multi-source, vendor suggestions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9116568" y="1920240"/>
            <a:ext cx="2679192" cy="841248"/>
          </a:xfrm>
          <a:prstGeom prst="rect">
            <a:avLst/>
          </a:prstGeom>
          <a:solidFill>
            <a:srgbClr val="172435"/>
          </a:solidFill>
          <a:ln w="12700">
            <a:solidFill>
              <a:srgbClr val="172435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9116568" y="1920240"/>
            <a:ext cx="64008" cy="8412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7736" y="2039112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710928" y="1993392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Quote Compare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9710928" y="2304288"/>
            <a:ext cx="19933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Weighted price · lead · reliability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640080" y="2852928"/>
            <a:ext cx="2679192" cy="841248"/>
          </a:xfrm>
          <a:prstGeom prst="rect">
            <a:avLst/>
          </a:prstGeom>
          <a:solidFill>
            <a:srgbClr val="172435"/>
          </a:solidFill>
          <a:ln w="12700">
            <a:solidFill>
              <a:srgbClr val="172435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640080" y="2852928"/>
            <a:ext cx="64008" cy="8412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2971800"/>
            <a:ext cx="310896" cy="31089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234440" y="2926080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 Bid Eval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2816352" y="294436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</a:t>
            </a:r>
            <a:endParaRPr lang="en-US" sz="700" dirty="0"/>
          </a:p>
        </p:txBody>
      </p:sp>
      <p:sp>
        <p:nvSpPr>
          <p:cNvPr id="33" name="Text 26"/>
          <p:cNvSpPr/>
          <p:nvPr/>
        </p:nvSpPr>
        <p:spPr>
          <a:xfrm>
            <a:off x="1234440" y="3236976"/>
            <a:ext cx="19933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16-category templates · AI auto-eval · ranking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3465576" y="2852928"/>
            <a:ext cx="2679192" cy="841248"/>
          </a:xfrm>
          <a:prstGeom prst="rect">
            <a:avLst/>
          </a:prstGeom>
          <a:solidFill>
            <a:srgbClr val="172435"/>
          </a:solidFill>
          <a:ln w="12700">
            <a:solidFill>
              <a:srgbClr val="172435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3465576" y="2852928"/>
            <a:ext cx="64008" cy="8412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66744" y="2971800"/>
            <a:ext cx="310896" cy="310896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4059936" y="2926080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Award + PO</a:t>
            </a:r>
            <a:endParaRPr lang="en-US" sz="1200" dirty="0"/>
          </a:p>
        </p:txBody>
      </p:sp>
      <p:sp>
        <p:nvSpPr>
          <p:cNvPr id="38" name="Text 30"/>
          <p:cNvSpPr/>
          <p:nvPr/>
        </p:nvSpPr>
        <p:spPr>
          <a:xfrm>
            <a:off x="4059936" y="3236976"/>
            <a:ext cx="19933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AI-cited rationale (Grok) · auto-PO</a:t>
            </a:r>
            <a:endParaRPr lang="en-US" sz="900" dirty="0"/>
          </a:p>
        </p:txBody>
      </p:sp>
      <p:sp>
        <p:nvSpPr>
          <p:cNvPr id="39" name="Shape 31"/>
          <p:cNvSpPr/>
          <p:nvPr/>
        </p:nvSpPr>
        <p:spPr>
          <a:xfrm>
            <a:off x="6291072" y="2852928"/>
            <a:ext cx="2679192" cy="841248"/>
          </a:xfrm>
          <a:prstGeom prst="rect">
            <a:avLst/>
          </a:prstGeom>
          <a:solidFill>
            <a:srgbClr val="172435"/>
          </a:solidFill>
          <a:ln w="12700">
            <a:solidFill>
              <a:srgbClr val="172435"/>
            </a:solidFill>
            <a:prstDash val="solid"/>
          </a:ln>
        </p:spPr>
      </p:sp>
      <p:sp>
        <p:nvSpPr>
          <p:cNvPr id="40" name="Shape 32"/>
          <p:cNvSpPr/>
          <p:nvPr/>
        </p:nvSpPr>
        <p:spPr>
          <a:xfrm>
            <a:off x="6291072" y="2852928"/>
            <a:ext cx="64008" cy="8412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0" y="2971800"/>
            <a:ext cx="310896" cy="310896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6885432" y="2926080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Vendor Scorecards</a:t>
            </a:r>
            <a:endParaRPr lang="en-US" sz="1200" dirty="0"/>
          </a:p>
        </p:txBody>
      </p:sp>
      <p:sp>
        <p:nvSpPr>
          <p:cNvPr id="43" name="Text 34"/>
          <p:cNvSpPr/>
          <p:nvPr/>
        </p:nvSpPr>
        <p:spPr>
          <a:xfrm>
            <a:off x="6885432" y="3236976"/>
            <a:ext cx="19933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6-dim + AI risk briefing + watchlist</a:t>
            </a:r>
            <a:endParaRPr lang="en-US" sz="900" dirty="0"/>
          </a:p>
        </p:txBody>
      </p:sp>
      <p:sp>
        <p:nvSpPr>
          <p:cNvPr id="44" name="Shape 35"/>
          <p:cNvSpPr/>
          <p:nvPr/>
        </p:nvSpPr>
        <p:spPr>
          <a:xfrm>
            <a:off x="9116568" y="2852928"/>
            <a:ext cx="2679192" cy="841248"/>
          </a:xfrm>
          <a:prstGeom prst="rect">
            <a:avLst/>
          </a:prstGeom>
          <a:solidFill>
            <a:srgbClr val="172435"/>
          </a:solidFill>
          <a:ln w="12700">
            <a:solidFill>
              <a:srgbClr val="172435"/>
            </a:solidFill>
            <a:prstDash val="solid"/>
          </a:ln>
        </p:spPr>
      </p:sp>
      <p:sp>
        <p:nvSpPr>
          <p:cNvPr id="45" name="Shape 36"/>
          <p:cNvSpPr/>
          <p:nvPr/>
        </p:nvSpPr>
        <p:spPr>
          <a:xfrm>
            <a:off x="9116568" y="2852928"/>
            <a:ext cx="64008" cy="8412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4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17736" y="2971800"/>
            <a:ext cx="310896" cy="310896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9710928" y="2926080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Concentration + Alts</a:t>
            </a:r>
            <a:endParaRPr lang="en-US" sz="1200" dirty="0"/>
          </a:p>
        </p:txBody>
      </p:sp>
      <p:sp>
        <p:nvSpPr>
          <p:cNvPr id="48" name="Text 38"/>
          <p:cNvSpPr/>
          <p:nvPr/>
        </p:nvSpPr>
        <p:spPr>
          <a:xfrm>
            <a:off x="9710928" y="3236976"/>
            <a:ext cx="19933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Single-source flags · approved alternates</a:t>
            </a:r>
            <a:endParaRPr lang="en-US" sz="900" dirty="0"/>
          </a:p>
        </p:txBody>
      </p:sp>
      <p:sp>
        <p:nvSpPr>
          <p:cNvPr id="49" name="Shape 39"/>
          <p:cNvSpPr/>
          <p:nvPr/>
        </p:nvSpPr>
        <p:spPr>
          <a:xfrm>
            <a:off x="640080" y="3785616"/>
            <a:ext cx="2679192" cy="841248"/>
          </a:xfrm>
          <a:prstGeom prst="rect">
            <a:avLst/>
          </a:prstGeom>
          <a:solidFill>
            <a:srgbClr val="172435"/>
          </a:solidFill>
          <a:ln w="12700">
            <a:solidFill>
              <a:srgbClr val="172435"/>
            </a:solidFill>
            <a:prstDash val="solid"/>
          </a:ln>
        </p:spPr>
      </p:sp>
      <p:sp>
        <p:nvSpPr>
          <p:cNvPr id="50" name="Shape 40"/>
          <p:cNvSpPr/>
          <p:nvPr/>
        </p:nvSpPr>
        <p:spPr>
          <a:xfrm>
            <a:off x="640080" y="3785616"/>
            <a:ext cx="64008" cy="8412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5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1248" y="3904488"/>
            <a:ext cx="310896" cy="310896"/>
          </a:xfrm>
          <a:prstGeom prst="rect">
            <a:avLst/>
          </a:prstGeom>
        </p:spPr>
      </p:pic>
      <p:sp>
        <p:nvSpPr>
          <p:cNvPr id="52" name="Text 41"/>
          <p:cNvSpPr/>
          <p:nvPr/>
        </p:nvSpPr>
        <p:spPr>
          <a:xfrm>
            <a:off x="1234440" y="3858768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Expediting Queue</a:t>
            </a:r>
            <a:endParaRPr lang="en-US" sz="1200" dirty="0"/>
          </a:p>
        </p:txBody>
      </p:sp>
      <p:sp>
        <p:nvSpPr>
          <p:cNvPr id="53" name="Text 42"/>
          <p:cNvSpPr/>
          <p:nvPr/>
        </p:nvSpPr>
        <p:spPr>
          <a:xfrm>
            <a:off x="1234440" y="4169664"/>
            <a:ext cx="19933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Slippage prediction · urgency tiers</a:t>
            </a:r>
            <a:endParaRPr lang="en-US" sz="900" dirty="0"/>
          </a:p>
        </p:txBody>
      </p:sp>
      <p:sp>
        <p:nvSpPr>
          <p:cNvPr id="54" name="Shape 43"/>
          <p:cNvSpPr/>
          <p:nvPr/>
        </p:nvSpPr>
        <p:spPr>
          <a:xfrm>
            <a:off x="3465576" y="3785616"/>
            <a:ext cx="2679192" cy="841248"/>
          </a:xfrm>
          <a:prstGeom prst="rect">
            <a:avLst/>
          </a:prstGeom>
          <a:solidFill>
            <a:srgbClr val="172435"/>
          </a:solidFill>
          <a:ln w="12700">
            <a:solidFill>
              <a:srgbClr val="172435"/>
            </a:solidFill>
            <a:prstDash val="solid"/>
          </a:ln>
        </p:spPr>
      </p:sp>
      <p:sp>
        <p:nvSpPr>
          <p:cNvPr id="55" name="Shape 44"/>
          <p:cNvSpPr/>
          <p:nvPr/>
        </p:nvSpPr>
        <p:spPr>
          <a:xfrm>
            <a:off x="3465576" y="3785616"/>
            <a:ext cx="64008" cy="8412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5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66744" y="3904488"/>
            <a:ext cx="310896" cy="310896"/>
          </a:xfrm>
          <a:prstGeom prst="rect">
            <a:avLst/>
          </a:prstGeom>
        </p:spPr>
      </p:pic>
      <p:sp>
        <p:nvSpPr>
          <p:cNvPr id="57" name="Text 45"/>
          <p:cNvSpPr/>
          <p:nvPr/>
        </p:nvSpPr>
        <p:spPr>
          <a:xfrm>
            <a:off x="4059936" y="3858768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Follow-Up Emails</a:t>
            </a:r>
            <a:endParaRPr lang="en-US" sz="1200" dirty="0"/>
          </a:p>
        </p:txBody>
      </p:sp>
      <p:sp>
        <p:nvSpPr>
          <p:cNvPr id="58" name="Text 46"/>
          <p:cNvSpPr/>
          <p:nvPr/>
        </p:nvSpPr>
        <p:spPr>
          <a:xfrm>
            <a:off x="4059936" y="4169664"/>
            <a:ext cx="19933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Tone-graded · PO-aware · Grok-drafted</a:t>
            </a:r>
            <a:endParaRPr lang="en-US" sz="900" dirty="0"/>
          </a:p>
        </p:txBody>
      </p:sp>
      <p:sp>
        <p:nvSpPr>
          <p:cNvPr id="59" name="Shape 47"/>
          <p:cNvSpPr/>
          <p:nvPr/>
        </p:nvSpPr>
        <p:spPr>
          <a:xfrm>
            <a:off x="6291072" y="3785616"/>
            <a:ext cx="2679192" cy="841248"/>
          </a:xfrm>
          <a:prstGeom prst="rect">
            <a:avLst/>
          </a:prstGeom>
          <a:solidFill>
            <a:srgbClr val="172435"/>
          </a:solidFill>
          <a:ln w="12700">
            <a:solidFill>
              <a:srgbClr val="172435"/>
            </a:solidFill>
            <a:prstDash val="solid"/>
          </a:ln>
        </p:spPr>
      </p:sp>
      <p:sp>
        <p:nvSpPr>
          <p:cNvPr id="60" name="Shape 48"/>
          <p:cNvSpPr/>
          <p:nvPr/>
        </p:nvSpPr>
        <p:spPr>
          <a:xfrm>
            <a:off x="6291072" y="3785616"/>
            <a:ext cx="64008" cy="8412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6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92240" y="3904488"/>
            <a:ext cx="310896" cy="310896"/>
          </a:xfrm>
          <a:prstGeom prst="rect">
            <a:avLst/>
          </a:prstGeom>
        </p:spPr>
      </p:pic>
      <p:sp>
        <p:nvSpPr>
          <p:cNvPr id="62" name="Text 49"/>
          <p:cNvSpPr/>
          <p:nvPr/>
        </p:nvSpPr>
        <p:spPr>
          <a:xfrm>
            <a:off x="6885432" y="3858768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Logistics Tracker</a:t>
            </a:r>
            <a:endParaRPr lang="en-US" sz="1200" dirty="0"/>
          </a:p>
        </p:txBody>
      </p:sp>
      <p:sp>
        <p:nvSpPr>
          <p:cNvPr id="63" name="Text 50"/>
          <p:cNvSpPr/>
          <p:nvPr/>
        </p:nvSpPr>
        <p:spPr>
          <a:xfrm>
            <a:off x="6885432" y="4169664"/>
            <a:ext cx="19933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funnel · mode recommender · bottleneck</a:t>
            </a:r>
            <a:endParaRPr lang="en-US" sz="900" dirty="0"/>
          </a:p>
        </p:txBody>
      </p:sp>
      <p:sp>
        <p:nvSpPr>
          <p:cNvPr id="64" name="Shape 51"/>
          <p:cNvSpPr/>
          <p:nvPr/>
        </p:nvSpPr>
        <p:spPr>
          <a:xfrm>
            <a:off x="9116568" y="3785616"/>
            <a:ext cx="2679192" cy="841248"/>
          </a:xfrm>
          <a:prstGeom prst="rect">
            <a:avLst/>
          </a:prstGeom>
          <a:solidFill>
            <a:srgbClr val="172435"/>
          </a:solidFill>
          <a:ln w="12700">
            <a:solidFill>
              <a:srgbClr val="172435"/>
            </a:solidFill>
            <a:prstDash val="solid"/>
          </a:ln>
        </p:spPr>
      </p:sp>
      <p:sp>
        <p:nvSpPr>
          <p:cNvPr id="65" name="Shape 52"/>
          <p:cNvSpPr/>
          <p:nvPr/>
        </p:nvSpPr>
        <p:spPr>
          <a:xfrm>
            <a:off x="9116568" y="3785616"/>
            <a:ext cx="64008" cy="8412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6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17736" y="3904488"/>
            <a:ext cx="310896" cy="310896"/>
          </a:xfrm>
          <a:prstGeom prst="rect">
            <a:avLst/>
          </a:prstGeom>
        </p:spPr>
      </p:pic>
      <p:sp>
        <p:nvSpPr>
          <p:cNvPr id="67" name="Text 53"/>
          <p:cNvSpPr/>
          <p:nvPr/>
        </p:nvSpPr>
        <p:spPr>
          <a:xfrm>
            <a:off x="9710928" y="3858768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Commercial + Sims</a:t>
            </a:r>
            <a:endParaRPr lang="en-US" sz="1200" dirty="0"/>
          </a:p>
        </p:txBody>
      </p:sp>
      <p:sp>
        <p:nvSpPr>
          <p:cNvPr id="68" name="Text 54"/>
          <p:cNvSpPr/>
          <p:nvPr/>
        </p:nvSpPr>
        <p:spPr>
          <a:xfrm>
            <a:off x="9710928" y="4169664"/>
            <a:ext cx="19933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Budget vs awarded · 3 sims + AI narrative</a:t>
            </a:r>
            <a:endParaRPr lang="en-US" sz="900" dirty="0"/>
          </a:p>
        </p:txBody>
      </p:sp>
      <p:sp>
        <p:nvSpPr>
          <p:cNvPr id="69" name="Shape 55"/>
          <p:cNvSpPr/>
          <p:nvPr/>
        </p:nvSpPr>
        <p:spPr>
          <a:xfrm>
            <a:off x="640080" y="4718304"/>
            <a:ext cx="2679192" cy="841248"/>
          </a:xfrm>
          <a:prstGeom prst="rect">
            <a:avLst/>
          </a:prstGeom>
          <a:solidFill>
            <a:srgbClr val="172435"/>
          </a:solidFill>
          <a:ln w="12700">
            <a:solidFill>
              <a:srgbClr val="172435"/>
            </a:solidFill>
            <a:prstDash val="solid"/>
          </a:ln>
        </p:spPr>
      </p:sp>
      <p:sp>
        <p:nvSpPr>
          <p:cNvPr id="70" name="Shape 56"/>
          <p:cNvSpPr/>
          <p:nvPr/>
        </p:nvSpPr>
        <p:spPr>
          <a:xfrm>
            <a:off x="640080" y="4718304"/>
            <a:ext cx="64008" cy="8412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7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1248" y="4837176"/>
            <a:ext cx="310896" cy="310896"/>
          </a:xfrm>
          <a:prstGeom prst="rect">
            <a:avLst/>
          </a:prstGeom>
        </p:spPr>
      </p:pic>
      <p:sp>
        <p:nvSpPr>
          <p:cNvPr id="72" name="Text 57"/>
          <p:cNvSpPr/>
          <p:nvPr/>
        </p:nvSpPr>
        <p:spPr>
          <a:xfrm>
            <a:off x="1234440" y="4791456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Register + AI</a:t>
            </a:r>
            <a:endParaRPr lang="en-US" sz="1200" dirty="0"/>
          </a:p>
        </p:txBody>
      </p:sp>
      <p:sp>
        <p:nvSpPr>
          <p:cNvPr id="73" name="Text 58"/>
          <p:cNvSpPr/>
          <p:nvPr/>
        </p:nvSpPr>
        <p:spPr>
          <a:xfrm>
            <a:off x="2816352" y="480974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</a:t>
            </a:r>
            <a:endParaRPr lang="en-US" sz="700" dirty="0"/>
          </a:p>
        </p:txBody>
      </p:sp>
      <p:sp>
        <p:nvSpPr>
          <p:cNvPr id="74" name="Text 59"/>
          <p:cNvSpPr/>
          <p:nvPr/>
        </p:nvSpPr>
        <p:spPr>
          <a:xfrm>
            <a:off x="1234440" y="5102352"/>
            <a:ext cx="19933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types · per-row mitigations · Explain-this</a:t>
            </a:r>
            <a:endParaRPr lang="en-US" sz="900" dirty="0"/>
          </a:p>
        </p:txBody>
      </p:sp>
      <p:sp>
        <p:nvSpPr>
          <p:cNvPr id="75" name="Shape 60"/>
          <p:cNvSpPr/>
          <p:nvPr/>
        </p:nvSpPr>
        <p:spPr>
          <a:xfrm>
            <a:off x="3465576" y="4718304"/>
            <a:ext cx="2679192" cy="841248"/>
          </a:xfrm>
          <a:prstGeom prst="rect">
            <a:avLst/>
          </a:prstGeom>
          <a:solidFill>
            <a:srgbClr val="172435"/>
          </a:solidFill>
          <a:ln w="12700">
            <a:solidFill>
              <a:srgbClr val="172435"/>
            </a:solidFill>
            <a:prstDash val="solid"/>
          </a:ln>
        </p:spPr>
      </p:sp>
      <p:sp>
        <p:nvSpPr>
          <p:cNvPr id="76" name="Shape 61"/>
          <p:cNvSpPr/>
          <p:nvPr/>
        </p:nvSpPr>
        <p:spPr>
          <a:xfrm>
            <a:off x="3465576" y="4718304"/>
            <a:ext cx="64008" cy="8412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7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66744" y="4837176"/>
            <a:ext cx="310896" cy="310896"/>
          </a:xfrm>
          <a:prstGeom prst="rect">
            <a:avLst/>
          </a:prstGeom>
        </p:spPr>
      </p:pic>
      <p:sp>
        <p:nvSpPr>
          <p:cNvPr id="78" name="Text 62"/>
          <p:cNvSpPr/>
          <p:nvPr/>
        </p:nvSpPr>
        <p:spPr>
          <a:xfrm>
            <a:off x="4059936" y="4791456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 Trail</a:t>
            </a:r>
            <a:endParaRPr lang="en-US" sz="1200" dirty="0"/>
          </a:p>
        </p:txBody>
      </p:sp>
      <p:sp>
        <p:nvSpPr>
          <p:cNvPr id="79" name="Text 63"/>
          <p:cNvSpPr/>
          <p:nvPr/>
        </p:nvSpPr>
        <p:spPr>
          <a:xfrm>
            <a:off x="5641848" y="480974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</a:t>
            </a:r>
            <a:endParaRPr lang="en-US" sz="700" dirty="0"/>
          </a:p>
        </p:txBody>
      </p:sp>
      <p:sp>
        <p:nvSpPr>
          <p:cNvPr id="80" name="Text 64"/>
          <p:cNvSpPr/>
          <p:nvPr/>
        </p:nvSpPr>
        <p:spPr>
          <a:xfrm>
            <a:off x="4059936" y="5102352"/>
            <a:ext cx="19933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mutation · 10k-event buffer · CSV export</a:t>
            </a:r>
            <a:endParaRPr lang="en-US" sz="900" dirty="0"/>
          </a:p>
        </p:txBody>
      </p:sp>
      <p:sp>
        <p:nvSpPr>
          <p:cNvPr id="81" name="Shape 65"/>
          <p:cNvSpPr/>
          <p:nvPr/>
        </p:nvSpPr>
        <p:spPr>
          <a:xfrm>
            <a:off x="6291072" y="4718304"/>
            <a:ext cx="2679192" cy="841248"/>
          </a:xfrm>
          <a:prstGeom prst="rect">
            <a:avLst/>
          </a:prstGeom>
          <a:solidFill>
            <a:srgbClr val="172435"/>
          </a:solidFill>
          <a:ln w="12700">
            <a:solidFill>
              <a:srgbClr val="172435"/>
            </a:solidFill>
            <a:prstDash val="solid"/>
          </a:ln>
        </p:spPr>
      </p:sp>
      <p:sp>
        <p:nvSpPr>
          <p:cNvPr id="82" name="Shape 66"/>
          <p:cNvSpPr/>
          <p:nvPr/>
        </p:nvSpPr>
        <p:spPr>
          <a:xfrm>
            <a:off x="6291072" y="4718304"/>
            <a:ext cx="64008" cy="8412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8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92240" y="4837176"/>
            <a:ext cx="310896" cy="310896"/>
          </a:xfrm>
          <a:prstGeom prst="rect">
            <a:avLst/>
          </a:prstGeom>
        </p:spPr>
      </p:pic>
      <p:sp>
        <p:nvSpPr>
          <p:cNvPr id="84" name="Text 67"/>
          <p:cNvSpPr/>
          <p:nvPr/>
        </p:nvSpPr>
        <p:spPr>
          <a:xfrm>
            <a:off x="6885432" y="4791456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Traceability + Pivots</a:t>
            </a:r>
            <a:endParaRPr lang="en-US" sz="1200" dirty="0"/>
          </a:p>
        </p:txBody>
      </p:sp>
      <p:sp>
        <p:nvSpPr>
          <p:cNvPr id="85" name="Text 68"/>
          <p:cNvSpPr/>
          <p:nvPr/>
        </p:nvSpPr>
        <p:spPr>
          <a:xfrm>
            <a:off x="8467344" y="480974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</a:t>
            </a:r>
            <a:endParaRPr lang="en-US" sz="700" dirty="0"/>
          </a:p>
        </p:txBody>
      </p:sp>
      <p:sp>
        <p:nvSpPr>
          <p:cNvPr id="86" name="Text 69"/>
          <p:cNvSpPr/>
          <p:nvPr/>
        </p:nvSpPr>
        <p:spPr>
          <a:xfrm>
            <a:off x="6885432" y="5102352"/>
            <a:ext cx="19933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BOM → Delivery chain · Material/PO/Vendor</a:t>
            </a:r>
            <a:endParaRPr lang="en-US" sz="900" dirty="0"/>
          </a:p>
        </p:txBody>
      </p:sp>
      <p:sp>
        <p:nvSpPr>
          <p:cNvPr id="87" name="Shape 70"/>
          <p:cNvSpPr/>
          <p:nvPr/>
        </p:nvSpPr>
        <p:spPr>
          <a:xfrm>
            <a:off x="9116568" y="4718304"/>
            <a:ext cx="2679192" cy="841248"/>
          </a:xfrm>
          <a:prstGeom prst="rect">
            <a:avLst/>
          </a:prstGeom>
          <a:solidFill>
            <a:srgbClr val="172435"/>
          </a:solidFill>
          <a:ln w="12700">
            <a:solidFill>
              <a:srgbClr val="172435"/>
            </a:solidFill>
            <a:prstDash val="solid"/>
          </a:ln>
        </p:spPr>
      </p:sp>
      <p:sp>
        <p:nvSpPr>
          <p:cNvPr id="88" name="Shape 71"/>
          <p:cNvSpPr/>
          <p:nvPr/>
        </p:nvSpPr>
        <p:spPr>
          <a:xfrm>
            <a:off x="9116568" y="4718304"/>
            <a:ext cx="64008" cy="8412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89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317736" y="4837176"/>
            <a:ext cx="310896" cy="310896"/>
          </a:xfrm>
          <a:prstGeom prst="rect">
            <a:avLst/>
          </a:prstGeom>
        </p:spPr>
      </p:pic>
      <p:sp>
        <p:nvSpPr>
          <p:cNvPr id="90" name="Text 72"/>
          <p:cNvSpPr/>
          <p:nvPr/>
        </p:nvSpPr>
        <p:spPr>
          <a:xfrm>
            <a:off x="9710928" y="4791456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SAP CPI Integration</a:t>
            </a:r>
            <a:endParaRPr lang="en-US" sz="1200" dirty="0"/>
          </a:p>
        </p:txBody>
      </p:sp>
      <p:sp>
        <p:nvSpPr>
          <p:cNvPr id="91" name="Text 73"/>
          <p:cNvSpPr/>
          <p:nvPr/>
        </p:nvSpPr>
        <p:spPr>
          <a:xfrm>
            <a:off x="11292840" y="480974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</a:t>
            </a:r>
            <a:endParaRPr lang="en-US" sz="700" dirty="0"/>
          </a:p>
        </p:txBody>
      </p:sp>
      <p:sp>
        <p:nvSpPr>
          <p:cNvPr id="92" name="Text 74"/>
          <p:cNvSpPr/>
          <p:nvPr/>
        </p:nvSpPr>
        <p:spPr>
          <a:xfrm>
            <a:off x="9710928" y="5102352"/>
            <a:ext cx="19933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Mock + live · OAuth2 · webhooks (Phase 0)</a:t>
            </a:r>
            <a:endParaRPr lang="en-US" sz="900" dirty="0"/>
          </a:p>
        </p:txBody>
      </p:sp>
      <p:sp>
        <p:nvSpPr>
          <p:cNvPr id="93" name="Shape 75"/>
          <p:cNvSpPr/>
          <p:nvPr/>
        </p:nvSpPr>
        <p:spPr>
          <a:xfrm>
            <a:off x="640080" y="5815584"/>
            <a:ext cx="146304" cy="14630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4" name="Text 76"/>
          <p:cNvSpPr/>
          <p:nvPr/>
        </p:nvSpPr>
        <p:spPr>
          <a:xfrm>
            <a:off x="868680" y="57424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 this release</a:t>
            </a:r>
            <a:endParaRPr lang="en-US" sz="900" dirty="0"/>
          </a:p>
        </p:txBody>
      </p:sp>
      <p:sp>
        <p:nvSpPr>
          <p:cNvPr id="95" name="Shape 77"/>
          <p:cNvSpPr/>
          <p:nvPr/>
        </p:nvSpPr>
        <p:spPr>
          <a:xfrm>
            <a:off x="2880360" y="5788152"/>
            <a:ext cx="0" cy="292608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96" name="Text 78"/>
          <p:cNvSpPr/>
          <p:nvPr/>
        </p:nvSpPr>
        <p:spPr>
          <a:xfrm>
            <a:off x="3017520" y="5705856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first EPC control tower with full BOM-to-Delivery traceability — every recommendation cited, every action audited, every PO ready to ship to SAP.</a:t>
            </a:r>
            <a:endParaRPr lang="en-US" sz="1250" dirty="0"/>
          </a:p>
        </p:txBody>
      </p:sp>
      <p:sp>
        <p:nvSpPr>
          <p:cNvPr id="97" name="Shape 79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8" name="Shape 80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99" name="Text 81"/>
          <p:cNvSpPr/>
          <p:nvPr/>
        </p:nvSpPr>
        <p:spPr>
          <a:xfrm>
            <a:off x="457200" y="644652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 R O J E C T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 ·   </a:t>
            </a:r>
            <a:pPr indent="0" marL="0">
              <a:buNone/>
            </a:pPr>
            <a:r>
              <a:rPr lang="en-US" sz="1000" b="1" spc="400" kern="0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 O N T R O L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 ·   </a:t>
            </a:r>
            <a:pPr indent="0" marL="0">
              <a:buNone/>
            </a:pPr>
            <a:r>
              <a:rPr lang="en-US" sz="1000" b="1" spc="400" kern="0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O W E R</a:t>
            </a:r>
            <a:endParaRPr lang="en-US" sz="1000" dirty="0"/>
          </a:p>
        </p:txBody>
      </p:sp>
      <p:sp>
        <p:nvSpPr>
          <p:cNvPr id="100" name="Text 82"/>
          <p:cNvSpPr/>
          <p:nvPr/>
        </p:nvSpPr>
        <p:spPr>
          <a:xfrm>
            <a:off x="5212080" y="6446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EPC Procurement Platform  ·  v2</a:t>
            </a:r>
            <a:endParaRPr lang="en-US" sz="1000" dirty="0"/>
          </a:p>
        </p:txBody>
      </p:sp>
      <p:sp>
        <p:nvSpPr>
          <p:cNvPr id="101" name="Text 83"/>
          <p:cNvSpPr/>
          <p:nvPr/>
        </p:nvSpPr>
        <p:spPr>
          <a:xfrm>
            <a:off x="11094415" y="64465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/ 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7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What's Next — Stages 1  →  3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611880" cy="3931920"/>
          </a:xfrm>
          <a:prstGeom prst="rect">
            <a:avLst/>
          </a:prstGeom>
          <a:solidFill>
            <a:srgbClr val="172435"/>
          </a:solidFill>
          <a:ln w="12700">
            <a:solidFill>
              <a:srgbClr val="1724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28800"/>
            <a:ext cx="3611880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5740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7600" dirty="0"/>
          </a:p>
        </p:txBody>
      </p:sp>
      <p:sp>
        <p:nvSpPr>
          <p:cNvPr id="7" name="Shape 5"/>
          <p:cNvSpPr/>
          <p:nvPr/>
        </p:nvSpPr>
        <p:spPr>
          <a:xfrm>
            <a:off x="2880360" y="2240280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1F2E44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80360" y="224942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Q2-Q3 2026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0" y="32461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Governance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914400" y="3794760"/>
            <a:ext cx="3063240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886200"/>
            <a:ext cx="306324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Multi-tenant stores — per-tenant data isolation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RBAC — 5 roles, enforced on every write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Approval queue — single-source · PO threshold · variation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SSO — SAML · OIDC · Azure AD · Okta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Buyer scorecard + workload balancer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453128" y="1920240"/>
            <a:ext cx="3611880" cy="3931920"/>
          </a:xfrm>
          <a:prstGeom prst="rect">
            <a:avLst/>
          </a:prstGeom>
          <a:solidFill>
            <a:srgbClr val="172435"/>
          </a:solidFill>
          <a:ln w="12700">
            <a:solidFill>
              <a:srgbClr val="1724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53128" y="1828800"/>
            <a:ext cx="3611880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27448" y="205740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7600" dirty="0"/>
          </a:p>
        </p:txBody>
      </p:sp>
      <p:sp>
        <p:nvSpPr>
          <p:cNvPr id="15" name="Shape 13"/>
          <p:cNvSpPr/>
          <p:nvPr/>
        </p:nvSpPr>
        <p:spPr>
          <a:xfrm>
            <a:off x="6693408" y="2240280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1F2E44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93408" y="224942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Q3-Q4 2026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27448" y="32461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Systems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4727448" y="3794760"/>
            <a:ext cx="3063240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27448" y="3886200"/>
            <a:ext cx="306324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SAP CPI — full live mode + bidirectional + reconciliation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ERP Cloud + Workday connectors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Primavera P6 + MS Project — milestone ingest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PLM / DMS — drawings, specs, revisions auto-pulled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Contract parsing — FIDIC, EPC T&amp;Cs, LD clauses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WhatsApp / Teams — outbound + inbound webhooks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266176" y="1920240"/>
            <a:ext cx="3611880" cy="3931920"/>
          </a:xfrm>
          <a:prstGeom prst="rect">
            <a:avLst/>
          </a:prstGeom>
          <a:solidFill>
            <a:srgbClr val="172435"/>
          </a:solidFill>
          <a:ln w="12700">
            <a:solidFill>
              <a:srgbClr val="17243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66176" y="1828800"/>
            <a:ext cx="3611880" cy="9144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40496" y="205740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F472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7600" dirty="0"/>
          </a:p>
        </p:txBody>
      </p:sp>
      <p:sp>
        <p:nvSpPr>
          <p:cNvPr id="23" name="Shape 21"/>
          <p:cNvSpPr/>
          <p:nvPr/>
        </p:nvSpPr>
        <p:spPr>
          <a:xfrm>
            <a:off x="10506456" y="2240280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1F2E44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506456" y="224942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472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Q4+ 2026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540496" y="32461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Autonomous Procurement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8540496" y="3794760"/>
            <a:ext cx="3063240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40496" y="3886200"/>
            <a:ext cx="306324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Scheduled sub-agents — overnight expediting sweeps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Portfolio priority balancer — cross-project workload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Negotiation memory — firm's win/loss patterns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Predictive slip ML — vendor × category × season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ESG / Scope 3 — per-PO emissions, auto-disclosure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" y="5870448"/>
            <a:ext cx="10911535" cy="365760"/>
          </a:xfrm>
          <a:prstGeom prst="rect">
            <a:avLst/>
          </a:prstGeom>
          <a:solidFill>
            <a:srgbClr val="172435"/>
          </a:solidFill>
          <a:ln w="12700">
            <a:solidFill>
              <a:srgbClr val="1724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587044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→ </a:t>
            </a:r>
            <a:pPr indent="0" marL="0">
              <a:buNone/>
            </a:pPr>
            <a:r>
              <a:rPr lang="en-US" sz="1250" i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1 hardens governance. Stage 2 wires every external system. Stage 3 is procurement that runs itself overnight.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644652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 R O J E C T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 ·   </a:t>
            </a:r>
            <a:pPr indent="0" marL="0">
              <a:buNone/>
            </a:pPr>
            <a:r>
              <a:rPr lang="en-US" sz="1000" b="1" spc="400" kern="0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 O N T R O L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 ·   </a:t>
            </a:r>
            <a:pPr indent="0" marL="0">
              <a:buNone/>
            </a:pPr>
            <a:r>
              <a:rPr lang="en-US" sz="1000" b="1" spc="400" kern="0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O W E 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212080" y="6446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EPC Procurement Platform  ·  v2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094415" y="64465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/ 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17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COMPETITIVE LANDSCAPE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 Tower vs. The Field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CAPABILITY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297680" y="1673352"/>
            <a:ext cx="1036276" cy="4937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0" y="1673352"/>
            <a:ext cx="10362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C17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 Tower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333956" y="1691640"/>
            <a:ext cx="10362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SAP Ariba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370233" y="1691640"/>
            <a:ext cx="10362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Coupa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406509" y="1691640"/>
            <a:ext cx="10362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Proc.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442786" y="1691640"/>
            <a:ext cx="10362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GEP SMART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479062" y="1691640"/>
            <a:ext cx="10362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Jaggaer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515339" y="1691640"/>
            <a:ext cx="10362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Ivalua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2148840"/>
            <a:ext cx="10911535" cy="329184"/>
          </a:xfrm>
          <a:prstGeom prst="rect">
            <a:avLst/>
          </a:prstGeom>
          <a:solidFill>
            <a:srgbClr val="172435">
              <a:alpha val="65000"/>
            </a:srgbClr>
          </a:solidFill>
          <a:ln w="12700">
            <a:solidFill>
              <a:srgbClr val="172435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14884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Engineering-BOM → procurement plan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97680" y="2148840"/>
            <a:ext cx="1036276" cy="329184"/>
          </a:xfrm>
          <a:prstGeom prst="rect">
            <a:avLst/>
          </a:prstGeom>
          <a:solidFill>
            <a:srgbClr val="F97316">
              <a:alpha val="8000"/>
            </a:srgbClr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0" y="2148840"/>
            <a:ext cx="10362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●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333956" y="2148840"/>
            <a:ext cx="10362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○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70233" y="2148840"/>
            <a:ext cx="10362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○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406509" y="2148840"/>
            <a:ext cx="10362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○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442786" y="2148840"/>
            <a:ext cx="10362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92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◐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479062" y="2148840"/>
            <a:ext cx="10362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92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◐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515339" y="2148840"/>
            <a:ext cx="10362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92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◐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77240" y="247802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Milestone-coupled long-lead detection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97680" y="2478024"/>
            <a:ext cx="1036276" cy="329184"/>
          </a:xfrm>
          <a:prstGeom prst="rect">
            <a:avLst/>
          </a:prstGeom>
          <a:solidFill>
            <a:srgbClr val="F97316">
              <a:alpha val="8000"/>
            </a:srgbClr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97680" y="2478024"/>
            <a:ext cx="10362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●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333956" y="2478024"/>
            <a:ext cx="10362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○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370233" y="2478024"/>
            <a:ext cx="10362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○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406509" y="2478024"/>
            <a:ext cx="10362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○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442786" y="2478024"/>
            <a:ext cx="10362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○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479062" y="2478024"/>
            <a:ext cx="10362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○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0515339" y="2478024"/>
            <a:ext cx="10362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○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40080" y="2807208"/>
            <a:ext cx="10911535" cy="329184"/>
          </a:xfrm>
          <a:prstGeom prst="rect">
            <a:avLst/>
          </a:prstGeom>
          <a:solidFill>
            <a:srgbClr val="172435">
              <a:alpha val="65000"/>
            </a:srgbClr>
          </a:solidFill>
          <a:ln w="12700">
            <a:solidFill>
              <a:srgbClr val="172435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280720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 Bid Evaluation + combined ranking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297680" y="2807208"/>
            <a:ext cx="1036276" cy="329184"/>
          </a:xfrm>
          <a:prstGeom prst="rect">
            <a:avLst/>
          </a:prstGeom>
          <a:solidFill>
            <a:srgbClr val="F97316">
              <a:alpha val="8000"/>
            </a:srgbClr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97680" y="2807208"/>
            <a:ext cx="10362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●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333956" y="2807208"/>
            <a:ext cx="10362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○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370233" y="2807208"/>
            <a:ext cx="10362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○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406509" y="2807208"/>
            <a:ext cx="10362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○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8442786" y="2807208"/>
            <a:ext cx="10362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92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◐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9479062" y="2807208"/>
            <a:ext cx="10362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92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◐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0515339" y="2807208"/>
            <a:ext cx="10362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92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◐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777240" y="313639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6-dim vendor scorecard + AI risk briefing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297680" y="3136392"/>
            <a:ext cx="1036276" cy="329184"/>
          </a:xfrm>
          <a:prstGeom prst="rect">
            <a:avLst/>
          </a:prstGeom>
          <a:solidFill>
            <a:srgbClr val="F97316">
              <a:alpha val="8000"/>
            </a:srgbClr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297680" y="3136392"/>
            <a:ext cx="10362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●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5333956" y="3136392"/>
            <a:ext cx="10362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92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◐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6370233" y="3136392"/>
            <a:ext cx="10362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92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◐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7406509" y="3136392"/>
            <a:ext cx="10362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92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◐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8442786" y="3136392"/>
            <a:ext cx="10362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●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9479062" y="3136392"/>
            <a:ext cx="10362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●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10515339" y="3136392"/>
            <a:ext cx="10362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●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640080" y="3465576"/>
            <a:ext cx="10911535" cy="329184"/>
          </a:xfrm>
          <a:prstGeom prst="rect">
            <a:avLst/>
          </a:prstGeom>
          <a:solidFill>
            <a:srgbClr val="172435">
              <a:alpha val="65000"/>
            </a:srgbClr>
          </a:solidFill>
          <a:ln w="12700">
            <a:solidFill>
              <a:srgbClr val="172435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77240" y="346557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AI-drafted expediting follow-ups (Grok)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297680" y="3465576"/>
            <a:ext cx="1036276" cy="329184"/>
          </a:xfrm>
          <a:prstGeom prst="rect">
            <a:avLst/>
          </a:prstGeom>
          <a:solidFill>
            <a:srgbClr val="F97316">
              <a:alpha val="8000"/>
            </a:srgbClr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297680" y="3465576"/>
            <a:ext cx="10362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●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5333956" y="3465576"/>
            <a:ext cx="10362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○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6370233" y="3465576"/>
            <a:ext cx="10362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○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7406509" y="3465576"/>
            <a:ext cx="10362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○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8442786" y="3465576"/>
            <a:ext cx="10362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○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9479062" y="3465576"/>
            <a:ext cx="10362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○</a:t>
            </a:r>
            <a:endParaRPr lang="en-US" sz="1800" dirty="0"/>
          </a:p>
        </p:txBody>
      </p:sp>
      <p:sp>
        <p:nvSpPr>
          <p:cNvPr id="60" name="Text 58"/>
          <p:cNvSpPr/>
          <p:nvPr/>
        </p:nvSpPr>
        <p:spPr>
          <a:xfrm>
            <a:off x="10515339" y="3465576"/>
            <a:ext cx="10362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○</a:t>
            </a:r>
            <a:endParaRPr lang="en-US" sz="1800" dirty="0"/>
          </a:p>
        </p:txBody>
      </p:sp>
      <p:sp>
        <p:nvSpPr>
          <p:cNvPr id="61" name="Text 59"/>
          <p:cNvSpPr/>
          <p:nvPr/>
        </p:nvSpPr>
        <p:spPr>
          <a:xfrm>
            <a:off x="777240" y="379476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audit trail · BOM → Delivery traceability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4297680" y="3794760"/>
            <a:ext cx="1036276" cy="329184"/>
          </a:xfrm>
          <a:prstGeom prst="rect">
            <a:avLst/>
          </a:prstGeom>
          <a:solidFill>
            <a:srgbClr val="F97316">
              <a:alpha val="8000"/>
            </a:srgbClr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297680" y="3794760"/>
            <a:ext cx="10362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●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5333956" y="3794760"/>
            <a:ext cx="10362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92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◐</a:t>
            </a:r>
            <a:endParaRPr lang="en-US" sz="1800" dirty="0"/>
          </a:p>
        </p:txBody>
      </p:sp>
      <p:sp>
        <p:nvSpPr>
          <p:cNvPr id="65" name="Text 63"/>
          <p:cNvSpPr/>
          <p:nvPr/>
        </p:nvSpPr>
        <p:spPr>
          <a:xfrm>
            <a:off x="6370233" y="3794760"/>
            <a:ext cx="10362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92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◐</a:t>
            </a:r>
            <a:endParaRPr lang="en-US" sz="1800" dirty="0"/>
          </a:p>
        </p:txBody>
      </p:sp>
      <p:sp>
        <p:nvSpPr>
          <p:cNvPr id="66" name="Text 64"/>
          <p:cNvSpPr/>
          <p:nvPr/>
        </p:nvSpPr>
        <p:spPr>
          <a:xfrm>
            <a:off x="7406509" y="3794760"/>
            <a:ext cx="10362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92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◐</a:t>
            </a:r>
            <a:endParaRPr lang="en-US" sz="1800" dirty="0"/>
          </a:p>
        </p:txBody>
      </p:sp>
      <p:sp>
        <p:nvSpPr>
          <p:cNvPr id="67" name="Text 65"/>
          <p:cNvSpPr/>
          <p:nvPr/>
        </p:nvSpPr>
        <p:spPr>
          <a:xfrm>
            <a:off x="8442786" y="3794760"/>
            <a:ext cx="10362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92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◐</a:t>
            </a:r>
            <a:endParaRPr lang="en-US" sz="1800" dirty="0"/>
          </a:p>
        </p:txBody>
      </p:sp>
      <p:sp>
        <p:nvSpPr>
          <p:cNvPr id="68" name="Text 66"/>
          <p:cNvSpPr/>
          <p:nvPr/>
        </p:nvSpPr>
        <p:spPr>
          <a:xfrm>
            <a:off x="9479062" y="3794760"/>
            <a:ext cx="10362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92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◐</a:t>
            </a:r>
            <a:endParaRPr lang="en-US" sz="1800" dirty="0"/>
          </a:p>
        </p:txBody>
      </p:sp>
      <p:sp>
        <p:nvSpPr>
          <p:cNvPr id="69" name="Text 67"/>
          <p:cNvSpPr/>
          <p:nvPr/>
        </p:nvSpPr>
        <p:spPr>
          <a:xfrm>
            <a:off x="10515339" y="3794760"/>
            <a:ext cx="10362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92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◐</a:t>
            </a:r>
            <a:endParaRPr lang="en-US" sz="1800" dirty="0"/>
          </a:p>
        </p:txBody>
      </p:sp>
      <p:sp>
        <p:nvSpPr>
          <p:cNvPr id="70" name="Shape 68"/>
          <p:cNvSpPr/>
          <p:nvPr/>
        </p:nvSpPr>
        <p:spPr>
          <a:xfrm>
            <a:off x="640080" y="4123944"/>
            <a:ext cx="10911535" cy="329184"/>
          </a:xfrm>
          <a:prstGeom prst="rect">
            <a:avLst/>
          </a:prstGeom>
          <a:solidFill>
            <a:srgbClr val="172435">
              <a:alpha val="65000"/>
            </a:srgbClr>
          </a:solidFill>
          <a:ln w="12700">
            <a:solidFill>
              <a:srgbClr val="172435">
                <a:alpha val="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77240" y="412394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Cross-module what-if sims + AI narrative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4297680" y="4123944"/>
            <a:ext cx="1036276" cy="329184"/>
          </a:xfrm>
          <a:prstGeom prst="rect">
            <a:avLst/>
          </a:prstGeom>
          <a:solidFill>
            <a:srgbClr val="F97316">
              <a:alpha val="8000"/>
            </a:srgbClr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297680" y="4123944"/>
            <a:ext cx="10362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●</a:t>
            </a:r>
            <a:endParaRPr lang="en-US" sz="1800" dirty="0"/>
          </a:p>
        </p:txBody>
      </p:sp>
      <p:sp>
        <p:nvSpPr>
          <p:cNvPr id="74" name="Text 72"/>
          <p:cNvSpPr/>
          <p:nvPr/>
        </p:nvSpPr>
        <p:spPr>
          <a:xfrm>
            <a:off x="5333956" y="4123944"/>
            <a:ext cx="10362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○</a:t>
            </a:r>
            <a:endParaRPr lang="en-US" sz="1800" dirty="0"/>
          </a:p>
        </p:txBody>
      </p:sp>
      <p:sp>
        <p:nvSpPr>
          <p:cNvPr id="75" name="Text 73"/>
          <p:cNvSpPr/>
          <p:nvPr/>
        </p:nvSpPr>
        <p:spPr>
          <a:xfrm>
            <a:off x="6370233" y="4123944"/>
            <a:ext cx="10362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○</a:t>
            </a:r>
            <a:endParaRPr lang="en-US" sz="1800" dirty="0"/>
          </a:p>
        </p:txBody>
      </p:sp>
      <p:sp>
        <p:nvSpPr>
          <p:cNvPr id="76" name="Text 74"/>
          <p:cNvSpPr/>
          <p:nvPr/>
        </p:nvSpPr>
        <p:spPr>
          <a:xfrm>
            <a:off x="7406509" y="4123944"/>
            <a:ext cx="10362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○</a:t>
            </a:r>
            <a:endParaRPr lang="en-US" sz="1800" dirty="0"/>
          </a:p>
        </p:txBody>
      </p:sp>
      <p:sp>
        <p:nvSpPr>
          <p:cNvPr id="77" name="Text 75"/>
          <p:cNvSpPr/>
          <p:nvPr/>
        </p:nvSpPr>
        <p:spPr>
          <a:xfrm>
            <a:off x="8442786" y="4123944"/>
            <a:ext cx="10362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○</a:t>
            </a:r>
            <a:endParaRPr lang="en-US" sz="1800" dirty="0"/>
          </a:p>
        </p:txBody>
      </p:sp>
      <p:sp>
        <p:nvSpPr>
          <p:cNvPr id="78" name="Text 76"/>
          <p:cNvSpPr/>
          <p:nvPr/>
        </p:nvSpPr>
        <p:spPr>
          <a:xfrm>
            <a:off x="9479062" y="4123944"/>
            <a:ext cx="10362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○</a:t>
            </a:r>
            <a:endParaRPr lang="en-US" sz="1800" dirty="0"/>
          </a:p>
        </p:txBody>
      </p:sp>
      <p:sp>
        <p:nvSpPr>
          <p:cNvPr id="79" name="Text 77"/>
          <p:cNvSpPr/>
          <p:nvPr/>
        </p:nvSpPr>
        <p:spPr>
          <a:xfrm>
            <a:off x="10515339" y="4123944"/>
            <a:ext cx="10362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○</a:t>
            </a:r>
            <a:endParaRPr lang="en-US" sz="1800" dirty="0"/>
          </a:p>
        </p:txBody>
      </p:sp>
      <p:sp>
        <p:nvSpPr>
          <p:cNvPr id="80" name="Text 78"/>
          <p:cNvSpPr/>
          <p:nvPr/>
        </p:nvSpPr>
        <p:spPr>
          <a:xfrm>
            <a:off x="777240" y="445312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Glass-box AI reasoning (tool-call trace)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4297680" y="4453128"/>
            <a:ext cx="1036276" cy="329184"/>
          </a:xfrm>
          <a:prstGeom prst="rect">
            <a:avLst/>
          </a:prstGeom>
          <a:solidFill>
            <a:srgbClr val="F97316">
              <a:alpha val="8000"/>
            </a:srgbClr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297680" y="4453128"/>
            <a:ext cx="10362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●</a:t>
            </a:r>
            <a:endParaRPr lang="en-US" sz="1800" dirty="0"/>
          </a:p>
        </p:txBody>
      </p:sp>
      <p:sp>
        <p:nvSpPr>
          <p:cNvPr id="83" name="Text 81"/>
          <p:cNvSpPr/>
          <p:nvPr/>
        </p:nvSpPr>
        <p:spPr>
          <a:xfrm>
            <a:off x="5333956" y="4453128"/>
            <a:ext cx="10362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○</a:t>
            </a:r>
            <a:endParaRPr lang="en-US" sz="1800" dirty="0"/>
          </a:p>
        </p:txBody>
      </p:sp>
      <p:sp>
        <p:nvSpPr>
          <p:cNvPr id="84" name="Text 82"/>
          <p:cNvSpPr/>
          <p:nvPr/>
        </p:nvSpPr>
        <p:spPr>
          <a:xfrm>
            <a:off x="6370233" y="4453128"/>
            <a:ext cx="10362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○</a:t>
            </a:r>
            <a:endParaRPr lang="en-US" sz="1800" dirty="0"/>
          </a:p>
        </p:txBody>
      </p:sp>
      <p:sp>
        <p:nvSpPr>
          <p:cNvPr id="85" name="Text 83"/>
          <p:cNvSpPr/>
          <p:nvPr/>
        </p:nvSpPr>
        <p:spPr>
          <a:xfrm>
            <a:off x="7406509" y="4453128"/>
            <a:ext cx="10362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○</a:t>
            </a:r>
            <a:endParaRPr lang="en-US" sz="1800" dirty="0"/>
          </a:p>
        </p:txBody>
      </p:sp>
      <p:sp>
        <p:nvSpPr>
          <p:cNvPr id="86" name="Text 84"/>
          <p:cNvSpPr/>
          <p:nvPr/>
        </p:nvSpPr>
        <p:spPr>
          <a:xfrm>
            <a:off x="8442786" y="4453128"/>
            <a:ext cx="10362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○</a:t>
            </a:r>
            <a:endParaRPr lang="en-US" sz="1800" dirty="0"/>
          </a:p>
        </p:txBody>
      </p:sp>
      <p:sp>
        <p:nvSpPr>
          <p:cNvPr id="87" name="Text 85"/>
          <p:cNvSpPr/>
          <p:nvPr/>
        </p:nvSpPr>
        <p:spPr>
          <a:xfrm>
            <a:off x="9479062" y="4453128"/>
            <a:ext cx="10362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○</a:t>
            </a:r>
            <a:endParaRPr lang="en-US" sz="1800" dirty="0"/>
          </a:p>
        </p:txBody>
      </p:sp>
      <p:sp>
        <p:nvSpPr>
          <p:cNvPr id="88" name="Text 86"/>
          <p:cNvSpPr/>
          <p:nvPr/>
        </p:nvSpPr>
        <p:spPr>
          <a:xfrm>
            <a:off x="10515339" y="4453128"/>
            <a:ext cx="10362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○</a:t>
            </a:r>
            <a:endParaRPr lang="en-US" sz="1800" dirty="0"/>
          </a:p>
        </p:txBody>
      </p:sp>
      <p:sp>
        <p:nvSpPr>
          <p:cNvPr id="89" name="Shape 87"/>
          <p:cNvSpPr/>
          <p:nvPr/>
        </p:nvSpPr>
        <p:spPr>
          <a:xfrm>
            <a:off x="640080" y="4782312"/>
            <a:ext cx="10911535" cy="329184"/>
          </a:xfrm>
          <a:prstGeom prst="rect">
            <a:avLst/>
          </a:prstGeom>
          <a:solidFill>
            <a:srgbClr val="172435">
              <a:alpha val="65000"/>
            </a:srgbClr>
          </a:solidFill>
          <a:ln w="12700">
            <a:solidFill>
              <a:srgbClr val="172435">
                <a:alpha val="0"/>
              </a:srgbClr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77240" y="478231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Natural-language command center (Grok 4.1)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4297680" y="4782312"/>
            <a:ext cx="1036276" cy="329184"/>
          </a:xfrm>
          <a:prstGeom prst="rect">
            <a:avLst/>
          </a:prstGeom>
          <a:solidFill>
            <a:srgbClr val="F97316">
              <a:alpha val="8000"/>
            </a:srgbClr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297680" y="4782312"/>
            <a:ext cx="10362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●</a:t>
            </a:r>
            <a:endParaRPr lang="en-US" sz="1800" dirty="0"/>
          </a:p>
        </p:txBody>
      </p:sp>
      <p:sp>
        <p:nvSpPr>
          <p:cNvPr id="93" name="Text 91"/>
          <p:cNvSpPr/>
          <p:nvPr/>
        </p:nvSpPr>
        <p:spPr>
          <a:xfrm>
            <a:off x="5333956" y="4782312"/>
            <a:ext cx="10362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92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◐</a:t>
            </a:r>
            <a:endParaRPr lang="en-US" sz="1800" dirty="0"/>
          </a:p>
        </p:txBody>
      </p:sp>
      <p:sp>
        <p:nvSpPr>
          <p:cNvPr id="94" name="Text 92"/>
          <p:cNvSpPr/>
          <p:nvPr/>
        </p:nvSpPr>
        <p:spPr>
          <a:xfrm>
            <a:off x="6370233" y="4782312"/>
            <a:ext cx="10362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○</a:t>
            </a:r>
            <a:endParaRPr lang="en-US" sz="1800" dirty="0"/>
          </a:p>
        </p:txBody>
      </p:sp>
      <p:sp>
        <p:nvSpPr>
          <p:cNvPr id="95" name="Text 93"/>
          <p:cNvSpPr/>
          <p:nvPr/>
        </p:nvSpPr>
        <p:spPr>
          <a:xfrm>
            <a:off x="7406509" y="4782312"/>
            <a:ext cx="10362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92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◐</a:t>
            </a:r>
            <a:endParaRPr lang="en-US" sz="1800" dirty="0"/>
          </a:p>
        </p:txBody>
      </p:sp>
      <p:sp>
        <p:nvSpPr>
          <p:cNvPr id="96" name="Text 94"/>
          <p:cNvSpPr/>
          <p:nvPr/>
        </p:nvSpPr>
        <p:spPr>
          <a:xfrm>
            <a:off x="8442786" y="4782312"/>
            <a:ext cx="10362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○</a:t>
            </a:r>
            <a:endParaRPr lang="en-US" sz="1800" dirty="0"/>
          </a:p>
        </p:txBody>
      </p:sp>
      <p:sp>
        <p:nvSpPr>
          <p:cNvPr id="97" name="Text 95"/>
          <p:cNvSpPr/>
          <p:nvPr/>
        </p:nvSpPr>
        <p:spPr>
          <a:xfrm>
            <a:off x="9479062" y="4782312"/>
            <a:ext cx="10362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○</a:t>
            </a:r>
            <a:endParaRPr lang="en-US" sz="1800" dirty="0"/>
          </a:p>
        </p:txBody>
      </p:sp>
      <p:sp>
        <p:nvSpPr>
          <p:cNvPr id="98" name="Text 96"/>
          <p:cNvSpPr/>
          <p:nvPr/>
        </p:nvSpPr>
        <p:spPr>
          <a:xfrm>
            <a:off x="10515339" y="4782312"/>
            <a:ext cx="10362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○</a:t>
            </a:r>
            <a:endParaRPr lang="en-US" sz="1800" dirty="0"/>
          </a:p>
        </p:txBody>
      </p:sp>
      <p:sp>
        <p:nvSpPr>
          <p:cNvPr id="99" name="Text 97"/>
          <p:cNvSpPr/>
          <p:nvPr/>
        </p:nvSpPr>
        <p:spPr>
          <a:xfrm>
            <a:off x="777240" y="511149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Native SAP CPI integration (PR/PO submit)</a:t>
            </a:r>
            <a:endParaRPr lang="en-US" sz="1100" dirty="0"/>
          </a:p>
        </p:txBody>
      </p:sp>
      <p:sp>
        <p:nvSpPr>
          <p:cNvPr id="100" name="Shape 98"/>
          <p:cNvSpPr/>
          <p:nvPr/>
        </p:nvSpPr>
        <p:spPr>
          <a:xfrm>
            <a:off x="4297680" y="5111496"/>
            <a:ext cx="1036276" cy="329184"/>
          </a:xfrm>
          <a:prstGeom prst="rect">
            <a:avLst/>
          </a:prstGeom>
          <a:solidFill>
            <a:srgbClr val="F97316">
              <a:alpha val="8000"/>
            </a:srgbClr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297680" y="5111496"/>
            <a:ext cx="10362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●</a:t>
            </a:r>
            <a:endParaRPr lang="en-US" sz="1800" dirty="0"/>
          </a:p>
        </p:txBody>
      </p:sp>
      <p:sp>
        <p:nvSpPr>
          <p:cNvPr id="102" name="Text 100"/>
          <p:cNvSpPr/>
          <p:nvPr/>
        </p:nvSpPr>
        <p:spPr>
          <a:xfrm>
            <a:off x="5333956" y="5111496"/>
            <a:ext cx="10362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—</a:t>
            </a:r>
            <a:endParaRPr lang="en-US" sz="1800" dirty="0"/>
          </a:p>
        </p:txBody>
      </p:sp>
      <p:sp>
        <p:nvSpPr>
          <p:cNvPr id="103" name="Text 101"/>
          <p:cNvSpPr/>
          <p:nvPr/>
        </p:nvSpPr>
        <p:spPr>
          <a:xfrm>
            <a:off x="6370233" y="5111496"/>
            <a:ext cx="10362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—</a:t>
            </a:r>
            <a:endParaRPr lang="en-US" sz="1800" dirty="0"/>
          </a:p>
        </p:txBody>
      </p:sp>
      <p:sp>
        <p:nvSpPr>
          <p:cNvPr id="104" name="Text 102"/>
          <p:cNvSpPr/>
          <p:nvPr/>
        </p:nvSpPr>
        <p:spPr>
          <a:xfrm>
            <a:off x="7406509" y="5111496"/>
            <a:ext cx="10362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—</a:t>
            </a:r>
            <a:endParaRPr lang="en-US" sz="1800" dirty="0"/>
          </a:p>
        </p:txBody>
      </p:sp>
      <p:sp>
        <p:nvSpPr>
          <p:cNvPr id="105" name="Text 103"/>
          <p:cNvSpPr/>
          <p:nvPr/>
        </p:nvSpPr>
        <p:spPr>
          <a:xfrm>
            <a:off x="8442786" y="5111496"/>
            <a:ext cx="10362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92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◐</a:t>
            </a:r>
            <a:endParaRPr lang="en-US" sz="1800" dirty="0"/>
          </a:p>
        </p:txBody>
      </p:sp>
      <p:sp>
        <p:nvSpPr>
          <p:cNvPr id="106" name="Text 104"/>
          <p:cNvSpPr/>
          <p:nvPr/>
        </p:nvSpPr>
        <p:spPr>
          <a:xfrm>
            <a:off x="9479062" y="5111496"/>
            <a:ext cx="10362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92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◐</a:t>
            </a:r>
            <a:endParaRPr lang="en-US" sz="1800" dirty="0"/>
          </a:p>
        </p:txBody>
      </p:sp>
      <p:sp>
        <p:nvSpPr>
          <p:cNvPr id="107" name="Text 105"/>
          <p:cNvSpPr/>
          <p:nvPr/>
        </p:nvSpPr>
        <p:spPr>
          <a:xfrm>
            <a:off x="10515339" y="5111496"/>
            <a:ext cx="10362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92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◐</a:t>
            </a:r>
            <a:endParaRPr lang="en-US" sz="1800" dirty="0"/>
          </a:p>
        </p:txBody>
      </p:sp>
      <p:sp>
        <p:nvSpPr>
          <p:cNvPr id="108" name="Text 106"/>
          <p:cNvSpPr/>
          <p:nvPr/>
        </p:nvSpPr>
        <p:spPr>
          <a:xfrm>
            <a:off x="640080" y="560527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●</a:t>
            </a:r>
            <a:endParaRPr lang="en-US" sz="1600" dirty="0"/>
          </a:p>
        </p:txBody>
      </p:sp>
      <p:sp>
        <p:nvSpPr>
          <p:cNvPr id="109" name="Text 107"/>
          <p:cNvSpPr/>
          <p:nvPr/>
        </p:nvSpPr>
        <p:spPr>
          <a:xfrm>
            <a:off x="822960" y="56052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support</a:t>
            </a:r>
            <a:endParaRPr lang="en-US" sz="1100" dirty="0"/>
          </a:p>
        </p:txBody>
      </p:sp>
      <p:sp>
        <p:nvSpPr>
          <p:cNvPr id="110" name="Text 108"/>
          <p:cNvSpPr/>
          <p:nvPr/>
        </p:nvSpPr>
        <p:spPr>
          <a:xfrm>
            <a:off x="2057400" y="560527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B923C"/>
                </a:solidFill>
              </a:rPr>
              <a:t>◐</a:t>
            </a:r>
            <a:endParaRPr lang="en-US" sz="1600" dirty="0"/>
          </a:p>
        </p:txBody>
      </p:sp>
      <p:sp>
        <p:nvSpPr>
          <p:cNvPr id="111" name="Text 109"/>
          <p:cNvSpPr/>
          <p:nvPr/>
        </p:nvSpPr>
        <p:spPr>
          <a:xfrm>
            <a:off x="2240280" y="56052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Partial</a:t>
            </a:r>
            <a:endParaRPr lang="en-US" sz="1100" dirty="0"/>
          </a:p>
        </p:txBody>
      </p:sp>
      <p:sp>
        <p:nvSpPr>
          <p:cNvPr id="112" name="Text 110"/>
          <p:cNvSpPr/>
          <p:nvPr/>
        </p:nvSpPr>
        <p:spPr>
          <a:xfrm>
            <a:off x="3063240" y="560527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4748B"/>
                </a:solidFill>
              </a:rPr>
              <a:t>○</a:t>
            </a:r>
            <a:endParaRPr lang="en-US" sz="1600" dirty="0"/>
          </a:p>
        </p:txBody>
      </p:sp>
      <p:sp>
        <p:nvSpPr>
          <p:cNvPr id="113" name="Text 111"/>
          <p:cNvSpPr/>
          <p:nvPr/>
        </p:nvSpPr>
        <p:spPr>
          <a:xfrm>
            <a:off x="3246120" y="56052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 offered</a:t>
            </a:r>
            <a:endParaRPr lang="en-US" sz="1100" dirty="0"/>
          </a:p>
        </p:txBody>
      </p:sp>
      <p:sp>
        <p:nvSpPr>
          <p:cNvPr id="114" name="Text 112"/>
          <p:cNvSpPr/>
          <p:nvPr/>
        </p:nvSpPr>
        <p:spPr>
          <a:xfrm>
            <a:off x="4434840" y="560527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97316"/>
                </a:solidFill>
              </a:rPr>
              <a:t>●</a:t>
            </a:r>
            <a:endParaRPr lang="en-US" sz="1600" dirty="0"/>
          </a:p>
        </p:txBody>
      </p:sp>
      <p:sp>
        <p:nvSpPr>
          <p:cNvPr id="115" name="Text 113"/>
          <p:cNvSpPr/>
          <p:nvPr/>
        </p:nvSpPr>
        <p:spPr>
          <a:xfrm>
            <a:off x="4617720" y="56052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 Tower</a:t>
            </a:r>
            <a:endParaRPr lang="en-US" sz="1100" dirty="0"/>
          </a:p>
        </p:txBody>
      </p:sp>
      <p:sp>
        <p:nvSpPr>
          <p:cNvPr id="116" name="Shape 114"/>
          <p:cNvSpPr/>
          <p:nvPr/>
        </p:nvSpPr>
        <p:spPr>
          <a:xfrm>
            <a:off x="7253935" y="5559552"/>
            <a:ext cx="4297680" cy="384048"/>
          </a:xfrm>
          <a:prstGeom prst="rect">
            <a:avLst/>
          </a:prstGeom>
          <a:solidFill>
            <a:srgbClr val="172435"/>
          </a:solidFill>
          <a:ln w="15875">
            <a:solidFill>
              <a:srgbClr val="F97316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7253935" y="5559552"/>
            <a:ext cx="64008" cy="3840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7391095" y="555955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Leads on 9 of 10 — and owns the 9 that define AI-native EPC procurement.</a:t>
            </a:r>
            <a:endParaRPr lang="en-US" sz="1000" dirty="0"/>
          </a:p>
        </p:txBody>
      </p:sp>
      <p:sp>
        <p:nvSpPr>
          <p:cNvPr id="119" name="Shape 117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457200" y="644652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 R O J E C T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 ·   </a:t>
            </a:r>
            <a:pPr indent="0" marL="0">
              <a:buNone/>
            </a:pPr>
            <a:r>
              <a:rPr lang="en-US" sz="1000" b="1" spc="400" kern="0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 O N T R O L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 ·   </a:t>
            </a:r>
            <a:pPr indent="0" marL="0">
              <a:buNone/>
            </a:pPr>
            <a:r>
              <a:rPr lang="en-US" sz="1000" b="1" spc="400" kern="0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O W E R</a:t>
            </a:r>
            <a:endParaRPr lang="en-US" sz="1000" dirty="0"/>
          </a:p>
        </p:txBody>
      </p:sp>
      <p:sp>
        <p:nvSpPr>
          <p:cNvPr id="122" name="Text 120"/>
          <p:cNvSpPr/>
          <p:nvPr/>
        </p:nvSpPr>
        <p:spPr>
          <a:xfrm>
            <a:off x="5212080" y="6446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EPC Procurement Platform  ·  v2</a:t>
            </a:r>
            <a:endParaRPr lang="en-US" sz="1000" dirty="0"/>
          </a:p>
        </p:txBody>
      </p:sp>
      <p:sp>
        <p:nvSpPr>
          <p:cNvPr id="123" name="Text 121"/>
          <p:cNvSpPr/>
          <p:nvPr/>
        </p:nvSpPr>
        <p:spPr>
          <a:xfrm>
            <a:off x="11094415" y="64465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/ 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7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MOAT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Defensible Wedges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SAP Ariba, Coupa, Oracle, GEP, Jaggaer, and Ivalua can't copy in 12 months.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611880" cy="3886200"/>
          </a:xfrm>
          <a:prstGeom prst="rect">
            <a:avLst/>
          </a:prstGeom>
          <a:solidFill>
            <a:srgbClr val="172435"/>
          </a:solidFill>
          <a:ln w="12700">
            <a:solidFill>
              <a:srgbClr val="1724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54480" y="2240280"/>
            <a:ext cx="2606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0" b="1" dirty="0">
                <a:solidFill>
                  <a:srgbClr val="3A1F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1000" dirty="0"/>
          </a:p>
        </p:txBody>
      </p:sp>
      <p:sp>
        <p:nvSpPr>
          <p:cNvPr id="7" name="Shape 5"/>
          <p:cNvSpPr/>
          <p:nvPr/>
        </p:nvSpPr>
        <p:spPr>
          <a:xfrm>
            <a:off x="914400" y="2468880"/>
            <a:ext cx="640080" cy="640080"/>
          </a:xfrm>
          <a:prstGeom prst="ellipse">
            <a:avLst/>
          </a:prstGeom>
          <a:solidFill>
            <a:srgbClr val="1F2E44"/>
          </a:solidFill>
          <a:ln w="15875">
            <a:solidFill>
              <a:srgbClr val="F9731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633472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324612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Engineering-First Data Model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914400" y="40690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BOM, milestones, specs, technical criteria.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914400" y="4544568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Competitors bolt procurement onto finance modules. We start from the engineering artifact — multi-level BOM, drawing revisions, spec references, required-on-site dates — and derive procurement from it. Technical Bid Evaluation runs against 16 category-aware criterion templates (valves, transformers, GIS, plc, cranes…) so commercial winners stop also being technical losers.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914400" y="5532120"/>
            <a:ext cx="45720" cy="3657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51560" y="55321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Ariba finds a vendor. Control Tower finds the right vendor for the milestone.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453128" y="2148840"/>
            <a:ext cx="3611880" cy="3886200"/>
          </a:xfrm>
          <a:prstGeom prst="rect">
            <a:avLst/>
          </a:prstGeom>
          <a:solidFill>
            <a:srgbClr val="172435"/>
          </a:solidFill>
          <a:ln w="12700">
            <a:solidFill>
              <a:srgbClr val="17243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67528" y="2240280"/>
            <a:ext cx="2606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0" b="1" dirty="0">
                <a:solidFill>
                  <a:srgbClr val="3A1F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1000" dirty="0"/>
          </a:p>
        </p:txBody>
      </p:sp>
      <p:sp>
        <p:nvSpPr>
          <p:cNvPr id="16" name="Shape 13"/>
          <p:cNvSpPr/>
          <p:nvPr/>
        </p:nvSpPr>
        <p:spPr>
          <a:xfrm>
            <a:off x="4727448" y="2468880"/>
            <a:ext cx="640080" cy="640080"/>
          </a:xfrm>
          <a:prstGeom prst="ellipse">
            <a:avLst/>
          </a:prstGeom>
          <a:solidFill>
            <a:srgbClr val="1F2E44"/>
          </a:solidFill>
          <a:ln w="15875">
            <a:solidFill>
              <a:srgbClr val="F97316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2633472"/>
            <a:ext cx="320040" cy="3200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727448" y="324612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Glass-Box Agent Reasoning</a:t>
            </a:r>
            <a:endParaRPr lang="en-US" sz="1900" dirty="0"/>
          </a:p>
        </p:txBody>
      </p:sp>
      <p:sp>
        <p:nvSpPr>
          <p:cNvPr id="19" name="Text 15"/>
          <p:cNvSpPr/>
          <p:nvPr/>
        </p:nvSpPr>
        <p:spPr>
          <a:xfrm>
            <a:off x="4727448" y="40690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Tool-calls, data refs, confidence on every output.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4727448" y="4544568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Grok 4.1 fast reasoning powers every AI surface (chat, award rationale, risk briefing, mitigations, simulation narrative, weekly synthesis). Every recommendation ships with its full reasoning trace — the tools it called, the records it read, the confidence score. Deterministic fallback path means the app works in full without the LLM. The only legal-defensible AI procurement output on the market.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4727448" y="5532120"/>
            <a:ext cx="45720" cy="3657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864608" y="55321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answer comes with its chain of reasoning — and a deterministic fallback.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8266176" y="2148840"/>
            <a:ext cx="3611880" cy="3886200"/>
          </a:xfrm>
          <a:prstGeom prst="rect">
            <a:avLst/>
          </a:prstGeom>
          <a:solidFill>
            <a:srgbClr val="172435"/>
          </a:solidFill>
          <a:ln w="12700">
            <a:solidFill>
              <a:srgbClr val="172435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9180576" y="2240280"/>
            <a:ext cx="2606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0" b="1" dirty="0">
                <a:solidFill>
                  <a:srgbClr val="3A1F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1000" dirty="0"/>
          </a:p>
        </p:txBody>
      </p:sp>
      <p:sp>
        <p:nvSpPr>
          <p:cNvPr id="25" name="Shape 21"/>
          <p:cNvSpPr/>
          <p:nvPr/>
        </p:nvSpPr>
        <p:spPr>
          <a:xfrm>
            <a:off x="8540496" y="2468880"/>
            <a:ext cx="640080" cy="640080"/>
          </a:xfrm>
          <a:prstGeom prst="ellipse">
            <a:avLst/>
          </a:prstGeom>
          <a:solidFill>
            <a:srgbClr val="1F2E44"/>
          </a:solidFill>
          <a:ln w="15875">
            <a:solidFill>
              <a:srgbClr val="F97316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5088" y="2633472"/>
            <a:ext cx="320040" cy="32004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540496" y="324612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End-to-End Audited Loop</a:t>
            </a:r>
            <a:endParaRPr lang="en-US" sz="1900" dirty="0"/>
          </a:p>
        </p:txBody>
      </p:sp>
      <p:sp>
        <p:nvSpPr>
          <p:cNvPr id="28" name="Text 23"/>
          <p:cNvSpPr/>
          <p:nvPr/>
        </p:nvSpPr>
        <p:spPr>
          <a:xfrm>
            <a:off x="8540496" y="40690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Intake → source → expedite → land → pay — all audited.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540496" y="4544568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surface for the full lifecycle, and every mutation is captured in a 10k-event audit trail with full BOM-to-Delivery traceability. Pivot by material, PO, or vendor. SAP CPI integration ships PRs and POs to the ledger; SAP webhooks flow status back. Point-tools stop at sourcing; Control Tower carries the BOM line to the bank.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8540496" y="5532120"/>
            <a:ext cx="45720" cy="3657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8677656" y="55321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PO ends in a tracked, landed, reconciled, audited delivery.</a:t>
            </a:r>
            <a:endParaRPr lang="en-US" sz="950" dirty="0"/>
          </a:p>
        </p:txBody>
      </p:sp>
      <p:sp>
        <p:nvSpPr>
          <p:cNvPr id="32" name="Text 27"/>
          <p:cNvSpPr/>
          <p:nvPr/>
        </p:nvSpPr>
        <p:spPr>
          <a:xfrm>
            <a:off x="640080" y="608076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i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AI control tower for EPC and engineering teams that actually ship — and prove — projects.</a:t>
            </a:r>
            <a:endParaRPr lang="en-US" sz="1350" dirty="0"/>
          </a:p>
        </p:txBody>
      </p:sp>
      <p:sp>
        <p:nvSpPr>
          <p:cNvPr id="33" name="Shape 28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457200" y="644652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 R O J E C T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 ·   </a:t>
            </a:r>
            <a:pPr indent="0" marL="0">
              <a:buNone/>
            </a:pPr>
            <a:r>
              <a:rPr lang="en-US" sz="1000" b="1" spc="400" kern="0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 O N T R O L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 ·   </a:t>
            </a:r>
            <a:pPr indent="0" marL="0">
              <a:buNone/>
            </a:pPr>
            <a:r>
              <a:rPr lang="en-US" sz="1000" b="1" spc="400" kern="0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O W E R</a:t>
            </a: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5212080" y="6446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EPC Procurement Platform  ·  v2</a:t>
            </a:r>
            <a:endParaRPr lang="en-US" sz="1000" dirty="0"/>
          </a:p>
        </p:txBody>
      </p:sp>
      <p:sp>
        <p:nvSpPr>
          <p:cNvPr id="37" name="Text 32"/>
          <p:cNvSpPr/>
          <p:nvPr/>
        </p:nvSpPr>
        <p:spPr>
          <a:xfrm>
            <a:off x="11094415" y="64465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/ 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Control Tower — Strategy v2</dc:title>
  <dc:subject>PptxGenJS Presentation</dc:subject>
  <dc:creator>Project Control Tower</dc:creator>
  <cp:lastModifiedBy>Project Control Tower</cp:lastModifiedBy>
  <cp:revision>1</cp:revision>
  <dcterms:created xsi:type="dcterms:W3CDTF">2026-05-13T13:40:24Z</dcterms:created>
  <dcterms:modified xsi:type="dcterms:W3CDTF">2026-05-13T13:40:24Z</dcterms:modified>
</cp:coreProperties>
</file>